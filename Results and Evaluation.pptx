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295525"/>
            <a:ext cx="1143000" cy="47625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60495" y="2628900"/>
            <a:ext cx="80710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F5F5F5"/>
                </a:solidFill>
                <a:latin typeface="Urbanist"/>
              </a:rPr>
              <a:t>5. Results &amp; </a:t>
            </a:r>
            <a:r>
              <a:rPr b="1" sz="6000" i="0" u="none">
                <a:solidFill>
                  <a:srgbClr val="DEFF9A"/>
                </a:solidFill>
                <a:latin typeface="Urbanist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733800"/>
            <a:ext cx="7620000" cy="1114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b="0" sz="1950" i="0" u="none">
                <a:solidFill>
                  <a:srgbClr val="DAFFDE"/>
                </a:solidFill>
                <a:latin typeface="Urbanist"/>
              </a:rPr>
              <a:t>Comprehensive performance analysis comparing the optimized Candidate-Aware PPO model against the established Amazon Baseline.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28637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5F5F5"/>
                </a:solidFill>
                <a:latin typeface="Urbanist"/>
              </a:rPr>
              <a:t>Comparative Performance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366837"/>
            <a:ext cx="11049000" cy="4962525"/>
          </a:xfrm>
          <a:prstGeom prst="roundRect">
            <a:avLst>
              <a:gd name="adj" fmla="val 0"/>
            </a:avLst>
          </a:prstGeom>
          <a:solidFill>
            <a:srgbClr val="1A1A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366837"/>
          <a:ext cx="11048998" cy="496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37954"/>
                <a:gridCol w="3368575"/>
                <a:gridCol w="4042469"/>
              </a:tblGrid>
              <a:tr h="708932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DEFF9A"/>
                          </a:solidFill>
                          <a:latin typeface="Urbanist"/>
                        </a:rPr>
                        <a:t>Evaluation 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DEFF9A"/>
                          </a:solidFill>
                          <a:latin typeface="Urbanist"/>
                        </a:rPr>
                        <a:t>Amazon Baseline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DEFF9A"/>
                          </a:solidFill>
                          <a:latin typeface="Urbanist"/>
                        </a:rPr>
                        <a:t>Candidate-Aware PPO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23232"/>
                    </a:solidFill>
                  </a:tcPr>
                </a:tc>
              </a:tr>
              <a:tr h="70893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Total Travel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698.00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DEFF9A"/>
                          </a:solidFill>
                          <a:latin typeface="Urbanist"/>
                        </a:rPr>
                        <a:t>545.31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893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Time Saved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-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DEFF9A"/>
                          </a:solidFill>
                          <a:latin typeface="Urbanist"/>
                        </a:rPr>
                        <a:t>152.69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893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Deliveries Completed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165 / 165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165 / 165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893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Delivery Completion 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100.00%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100.00%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893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Node Coverage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166 / 166 (100%)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166 / 166 (100%)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8933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Route Validity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True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DAFFDE"/>
                          </a:solidFill>
                          <a:latin typeface="Urbanist"/>
                        </a:rPr>
                        <a:t>True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2038350"/>
            <a:ext cx="3637954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9454" y="2038350"/>
            <a:ext cx="3368575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78030" y="2038350"/>
            <a:ext cx="4042469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752725"/>
            <a:ext cx="3637954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9454" y="2752725"/>
            <a:ext cx="3368575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78030" y="2752725"/>
            <a:ext cx="4042469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467100"/>
            <a:ext cx="3637954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9454" y="3467100"/>
            <a:ext cx="3368575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78030" y="3467100"/>
            <a:ext cx="4042469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181475"/>
            <a:ext cx="3637954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9454" y="4181475"/>
            <a:ext cx="3368575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78030" y="4181475"/>
            <a:ext cx="4042469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895850"/>
            <a:ext cx="3637954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9454" y="4895850"/>
            <a:ext cx="3368575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78030" y="4895850"/>
            <a:ext cx="4042469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5610225"/>
            <a:ext cx="3637954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9454" y="5610225"/>
            <a:ext cx="3368575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78030" y="5610225"/>
            <a:ext cx="4042469" cy="9525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11049000" cy="487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5F5F5"/>
                </a:solidFill>
                <a:latin typeface="Urbanist"/>
              </a:rPr>
              <a:t>Travel Time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" y="4557712"/>
            <a:ext cx="99441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1" u="none">
                <a:solidFill>
                  <a:srgbClr val="DAFFDE"/>
                </a:solidFill>
                <a:latin typeface="Urbanist"/>
              </a:rPr>
              <a:t>The Candidate-Aware PPO model significantly outperforms the baseline, reducing total travel time by over 152 minutes (9,161 seconds) while maintaining 100% delivery completion.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5525"/>
            <a:ext cx="5286375" cy="3105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5F5F5"/>
                </a:solidFill>
                <a:latin typeface="Urbanist"/>
              </a:rPr>
              <a:t>Key Evaluation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876550"/>
            <a:ext cx="450532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0"/>
              </a:lnSpc>
              <a:defRPr/>
            </a:pPr>
            <a:r>
              <a:rPr b="1" sz="12000" i="0" u="none">
                <a:solidFill>
                  <a:srgbClr val="DEFF9A"/>
                </a:solidFill>
                <a:latin typeface="Urbanist"/>
              </a:rPr>
              <a:t>21.9</a:t>
            </a:r>
            <a:r>
              <a:rPr b="1" sz="12000" i="0" u="none">
                <a:solidFill>
                  <a:srgbClr val="DEFF9A"/>
                </a:solidFill>
                <a:latin typeface="Urbanist"/>
              </a:rPr>
              <a:t>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4495800"/>
            <a:ext cx="45053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5F5F5"/>
                </a:solidFill>
                <a:latin typeface="Urbanist"/>
              </a:rPr>
              <a:t>IMPROVEMENT IN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1824037"/>
            <a:ext cx="55506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DEFF9A"/>
                </a:solidFill>
                <a:latin typeface="Urbanist Medium"/>
              </a:rPr>
              <a:t>Model 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2328862"/>
            <a:ext cx="4905375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5F5F5"/>
                </a:solidFill>
                <a:latin typeface="Urbanist"/>
              </a:rPr>
              <a:t>Loss &amp; Entropy:</a:t>
            </a:r>
            <a:r>
              <a:rPr b="0" sz="1650" i="0" u="none">
                <a:solidFill>
                  <a:srgbClr val="DAFFDE"/>
                </a:solidFill>
                <a:latin typeface="Urbanist"/>
              </a:rPr>
              <a:t> Reached stable convergence with a Total Loss of 5.5285 and Entropy of 4.1050 by the best episode (Ep. 84).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3509962"/>
            <a:ext cx="4905375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5F5F5"/>
                </a:solidFill>
                <a:latin typeface="Urbanist"/>
              </a:rPr>
              <a:t>100% Feasibility:</a:t>
            </a:r>
            <a:r>
              <a:rPr b="0" sz="1650" i="0" u="none">
                <a:solidFill>
                  <a:srgbClr val="DAFFDE"/>
                </a:solidFill>
                <a:latin typeface="Urbanist"/>
              </a:rPr>
              <a:t> Achieved perfect step completion, delivery completion, and unique-node coverage across the entire route.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4691062"/>
            <a:ext cx="4905375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5F5F5"/>
                </a:solidFill>
                <a:latin typeface="Urbanist"/>
              </a:rPr>
              <a:t>Action Integrity:</a:t>
            </a:r>
            <a:r>
              <a:rPr b="0" sz="1650" i="0" u="none">
                <a:solidFill>
                  <a:srgbClr val="DAFFDE"/>
                </a:solidFill>
                <a:latin typeface="Urbanist"/>
              </a:rPr>
              <a:t> Action masking successfully prevented invalid transitions, ensuring the route validity remained `True` throughout inference.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4125" y="2090737"/>
            <a:ext cx="85725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625"/>
              </a:lnSpc>
            </a:pPr>
            <a:r>
              <a:rPr b="0" sz="3750" i="0" u="none">
                <a:solidFill>
                  <a:srgbClr val="DEFF9A"/>
                </a:solidFill>
                <a:latin typeface="Urbanis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4125" y="3271837"/>
            <a:ext cx="85725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625"/>
              </a:lnSpc>
            </a:pPr>
            <a:r>
              <a:rPr b="0" sz="3750" i="0" u="none">
                <a:solidFill>
                  <a:srgbClr val="DEFF9A"/>
                </a:solidFill>
                <a:latin typeface="Urbanist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4125" y="4452937"/>
            <a:ext cx="85725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625"/>
              </a:lnSpc>
            </a:pPr>
            <a:r>
              <a:rPr b="0" sz="3750" i="0" u="none">
                <a:solidFill>
                  <a:srgbClr val="DEFF9A"/>
                </a:solidFill>
                <a:latin typeface="Urbanist"/>
              </a:rPr>
              <a:t>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